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8FAFC"/>
                </a:solidFill>
                <a:latin typeface="Arial"/>
              </a:defRPr>
            </a:pPr>
            <a:r>
              <a:t>The Contrarian Strength</a:t>
            </a:r>
          </a:p>
          <a:p>
            <a:pPr>
              <a:spcBef>
                <a:spcPts val="1000"/>
              </a:spcBef>
              <a:defRPr sz="3200">
                <a:solidFill>
                  <a:srgbClr val="10B981"/>
                </a:solidFill>
                <a:latin typeface="Arial"/>
              </a:defRPr>
            </a:pPr>
            <a:r>
              <a:t>Proprietary Alpha in Unpopular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Finding Strength Where Others Look Away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Contrarian Strength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CORE PHILOSOPHY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Identifying Strength Where Others See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Contrarian Edge: Most participants chase 'hot' themes, creating overcrowding risk.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Our Advantage: Focus on ignored, neglected sectors where new momentum is emerging.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Precision: We select only the strongest stocks in these 'ignored' industries.</a:t>
            </a:r>
          </a:p>
        </p:txBody>
      </p:sp>
      <p:pic>
        <p:nvPicPr>
          <p:cNvPr id="8" name="Picture 7" descr="market_structure_accumulation_1771245796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Contrarian Strength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ALPHA SOURCE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Capturing Structural Imbalances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Logic: Prices move due to Supply/Demand imbalances.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Signal: Our model detects subtle shifts in ignored sectors: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Supply Exhaustion: Selling pressure dries up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Smart Accumulation: Demand stabilizes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Result: Entry at inflection point for high-probability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Contrarian Strength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SELECTION PROCESS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A Rigorous, Multi-Layered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1: Proprietary Sector Scan</a:t>
            </a:r>
            <a:br/>
            <a:r>
              <a:t>Identifying sectors with 'Accumulation Signatures'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2: Strength Confirmation</a:t>
            </a:r>
            <a:br/>
            <a:r>
              <a:t>Verifying broad sector strength to minimize risk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3: Momentum Ranking</a:t>
            </a:r>
            <a:br/>
            <a:r>
              <a:t>Buying the leaders of the new trend (RSNP Rank)</a:t>
            </a:r>
          </a:p>
        </p:txBody>
      </p:sp>
      <p:pic>
        <p:nvPicPr>
          <p:cNvPr id="8" name="Picture 7" descr="selection_funnel_1771245833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Contrarian Strength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FUNDAMENTALLY SOUND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Strength with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Safety First: Strict Liquidity and Volatility filters. No junk.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Structural Integrity: Price strength backed by valid market structure.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Disciplined Allocation: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15 Stocks (Concentrated)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3 per Industry (Diversified)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Contrarian Strength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STRATEGY AT A GLANCE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Configuration &amp;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Benchmark: Nifty 500 / Top 1000 Universe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Structure: Concentrated Portfolio (10-15 Stocks)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Turnover: High Active Rotation (~7-10 stocks replaced/qtr)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Pricing: 2% Fixed / 20% Profit Share (Above Hurdle)</a:t>
            </a:r>
          </a:p>
        </p:txBody>
      </p:sp>
      <p:pic>
        <p:nvPicPr>
          <p:cNvPr id="8" name="Picture 7" descr="strategy_features_icons_17712994225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Contrarian Strength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LONG-TERM VALIDATION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Full Cycle Backtest (2017-2026)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CAGR: 22.5% (vs 8.8%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Sharpe (Rf=6%): 0.83 (vs 0.23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Max Drawdown: -41.1% (vs -64.0%)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Total Return: 470% (vs 106%)</a:t>
            </a:r>
          </a:p>
        </p:txBody>
      </p:sp>
      <p:pic>
        <p:nvPicPr>
          <p:cNvPr id="8" name="Picture 7" descr="full_na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28982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Note: We have back-tested the quantitative part of this strategy to give you an idea on how this thought process has performed in the past. Actual implementation includes qualitative fundamental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Contrarian Strength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ANNUAL RETURNS BREAKDOWN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Consistent Outperformance Across Cycles</a:t>
            </a:r>
          </a:p>
        </p:txBody>
      </p:sp>
      <p:pic>
        <p:nvPicPr>
          <p:cNvPr id="7" name="Picture 6" descr="annual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5623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731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AC41"/>
                </a:solidFill>
              </a:defRPr>
            </a:pPr>
            <a:r>
              <a:t>Yearly Outperformance: 80%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Contrarian Strength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QUARTERLY PERFORMANCE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Granular View of Alpha Generation</a:t>
            </a:r>
          </a:p>
        </p:txBody>
      </p:sp>
      <p:pic>
        <p:nvPicPr>
          <p:cNvPr id="7" name="Picture 6" descr="quarterly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499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731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AC41"/>
                </a:solidFill>
              </a:defRPr>
            </a:pPr>
            <a:r>
              <a:t>Quarterly Outperformance: 75%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Contrarian Strength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Arial"/>
              </a:defRPr>
            </a:pPr>
            <a:r>
              <a:t>THE DYNAMIC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Arial"/>
              </a:defRPr>
            </a:pPr>
            <a:r>
              <a:t>We hold winners as long as our Proprietary Signal remains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Arial"/>
              </a:defRPr>
            </a:pPr>
            <a:r>
              <a:t>Potential Return Boost: &gt;31% CAGR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