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Arial"/>
              </a:defRPr>
            </a:pPr>
            <a:r>
              <a:t>The Champion Strategy</a:t>
            </a:r>
          </a:p>
          <a:p>
            <a:pPr>
              <a:spcBef>
                <a:spcPts val="1000"/>
              </a:spcBef>
              <a:defRPr sz="3200">
                <a:solidFill>
                  <a:srgbClr val="10B981"/>
                </a:solidFill>
                <a:latin typeface="Arial"/>
              </a:defRPr>
            </a:pPr>
            <a:r>
              <a:t>Proprietary Alpha in Unpopular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Identifying Hidden Strength Where Others See Noise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CORE PHILOSOPHY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Identifying Strength Where Others See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Contrarian Edge: Most participants chase 'hot' themes, creating overcrowding risk.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Our Advantage: Focus on unpopular, neglected sectors where value is mispriced.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Precision: Proprietary models identify isolated pockets of hidden strength.</a:t>
            </a:r>
          </a:p>
        </p:txBody>
      </p:sp>
      <p:pic>
        <p:nvPicPr>
          <p:cNvPr id="8" name="Picture 7" descr="market_structure_accumulation_177124579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ALPHA SOURCE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Capturing Structural Imbalances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Logic: Prices move due to Supply/Demand imbalances.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Signal: Our model detects subtle shifts: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Supply Exhaustion: Selling pressure dries up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Smart Accumulation: Demand stabilizes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Result: Entry at inflection point for high-probability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SELECTION PROCESS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A Rigorous, Multi-Layered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1: Proprietary Sector Scan</a:t>
            </a:r>
            <a:br/>
            <a:r>
              <a:t>Identifying sectors with 'Accumulation Signatures'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2: Strength Confirmation</a:t>
            </a:r>
            <a:br/>
            <a:r>
              <a:t>Verifying broad sector strength to minimize risk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3: Momentum Ranking</a:t>
            </a:r>
            <a:br/>
            <a:r>
              <a:t>Buying the leaders of the new trend (RSNP Rank)</a:t>
            </a:r>
          </a:p>
        </p:txBody>
      </p:sp>
      <p:pic>
        <p:nvPicPr>
          <p:cNvPr id="8" name="Picture 7" descr="selection_funnel_177124583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FUNDAMENTALLY SOUND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Strength with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Safety First: Strict Liquidity and Volatility filters. No junk.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Structural Integrity: Price strength backed by valid market structure.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Disciplined Allocation: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15 Stocks (Concentrated)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3 per Industry (Diversified)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LONG-TERM VALIDATION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Full Cycle Performance (2017-2026)</a:t>
            </a:r>
          </a:p>
        </p:txBody>
      </p:sp>
      <p:pic>
        <p:nvPicPr>
          <p:cNvPr id="7" name="Picture 6" descr="full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9975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800">
                <a:solidFill>
                  <a:srgbClr val="F8FAFC"/>
                </a:solidFill>
              </a:defRPr>
            </a:pPr>
            <a:r>
              <a:t>CAGR: 22.5% (vs 8.8% Bench)</a:t>
            </a:r>
          </a:p>
          <a:p>
            <a:pPr>
              <a:spcAft>
                <a:spcPts val="1500"/>
              </a:spcAft>
              <a:defRPr sz="1800">
                <a:solidFill>
                  <a:srgbClr val="F8FAFC"/>
                </a:solidFill>
              </a:defRPr>
            </a:pPr>
            <a:r>
              <a:t>Sharpe: 1.14 (vs 0.46 Bench)</a:t>
            </a:r>
          </a:p>
          <a:p>
            <a:pPr>
              <a:spcAft>
                <a:spcPts val="1500"/>
              </a:spcAft>
              <a:defRPr sz="1800">
                <a:solidFill>
                  <a:srgbClr val="F8FAFC"/>
                </a:solidFill>
              </a:defRPr>
            </a:pPr>
            <a:r>
              <a:t>Max Drawdown: -41.1% (vs -64.0%)</a:t>
            </a:r>
          </a:p>
          <a:p>
            <a:pPr>
              <a:spcAft>
                <a:spcPts val="1500"/>
              </a:spcAft>
              <a:defRPr sz="1800">
                <a:solidFill>
                  <a:srgbClr val="F8FAFC"/>
                </a:solidFill>
              </a:defRPr>
            </a:pPr>
            <a:r>
              <a:t>Total Return: 470% (vs 106%)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ANNUAL RETURNS BREAKDOWN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Year-over-Year Consistency</a:t>
            </a:r>
          </a:p>
        </p:txBody>
      </p:sp>
      <p:pic>
        <p:nvPicPr>
          <p:cNvPr id="7" name="Picture 6" descr="annual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800">
                <a:solidFill>
                  <a:srgbClr val="F8FAFC"/>
                </a:solidFill>
              </a:defRPr>
            </a:pPr>
            <a:r>
              <a:t>Consistent positive Alpha across most years.</a:t>
            </a:r>
          </a:p>
          <a:p>
            <a:pPr>
              <a:spcAft>
                <a:spcPts val="1500"/>
              </a:spcAft>
              <a:defRPr sz="1800">
                <a:solidFill>
                  <a:srgbClr val="F8FAFC"/>
                </a:solidFill>
              </a:defRPr>
            </a:pPr>
            <a:r>
              <a:t>Significant outperformance in Volatile/Bear markets.</a:t>
            </a:r>
          </a:p>
          <a:p>
            <a:pPr>
              <a:spcAft>
                <a:spcPts val="1500"/>
              </a:spcAft>
              <a:defRPr sz="1800">
                <a:solidFill>
                  <a:srgbClr val="F8FAFC"/>
                </a:solidFill>
              </a:defRPr>
            </a:pPr>
            <a:r>
              <a:t>Demonstrates robustness of the quantitative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Champion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THE DYNAMIC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Arial"/>
              </a:defRPr>
            </a:pPr>
            <a:r>
              <a:t>We hold winners as long as our Proprietary Signal remains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Potential Return Boost: &gt;31% CAGR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